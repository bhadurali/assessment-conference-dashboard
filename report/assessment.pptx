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0B132B"/>
    <a:srgbClr val="E7EBF9"/>
    <a:srgbClr val="BCC8EE"/>
    <a:srgbClr val="B0B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7F31-DDA7-824D-43FF-1351422FB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9F4E9-AC66-63DD-BA59-D4ED293AA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7836C-85B3-8615-79D0-291C9DFD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AA547-7AB1-CE9B-8708-A2180F63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89D9D-9A7E-5C09-18B1-22429D22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83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2CB7-F3EA-6B4C-7C77-4F674694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33C87-8A4C-084B-A27C-C906EDED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BA7B3-0287-4516-377E-6A02064B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D2E1D-F822-FEF5-3AAA-45389440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E9970-30E3-786D-5EF6-2E3F20C0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48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DD1A-9976-E3DD-9D10-2B24B72C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298F8-324D-5908-D2B2-C6F76EB06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D314-47B6-A5D2-8C26-D8881E8B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CB78D-EA13-F84D-F34B-096E45B9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8F1E7-E8A4-8075-50E1-D2C93C57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895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A24C-92C2-77F0-30DB-2F65FAAF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BBB5-95BF-506B-06B6-E636110FA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59407-70A5-234E-E8C1-BF7253156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F05E-CE24-2625-7E77-B0F61D71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081C2-AF72-92DD-78F6-539C572C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6B6E7-1C2E-1D79-8BF9-F4226892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503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7601-A79A-130B-A326-49783943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69119-49E5-6D75-4CA9-3D9CAC8F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E3F8-274D-4182-4811-79878866D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63C214-08A3-8CB4-5EBC-E991D988D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E95BE-C56A-F59D-281B-80CF62DBE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D24D1-601A-6788-5936-918068B9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FA0DF-4DE3-BB15-5CB3-E272E51F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01D86-C3F5-B643-9F73-7B0B54BC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930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2C05-AE80-ADBF-D96C-1A95E5EC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BB35C-8D38-F4E1-3043-7F7EEC6E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02CEB-D2BA-E7DF-EF86-684BB2D7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1B8AE-3E6F-1794-A34E-DEC6025C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949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45044-234F-18DD-DA15-1BCBDAE7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D1DE4-CB2E-7735-93EF-FAE4A796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8E96-7663-B61C-79F5-D35E19F0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21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A1D7-5077-99CE-9481-DF9F4C6B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FFC1F-8B1B-466D-9FE0-37696113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61687-FB29-89DA-BAB4-AC239980F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8DAB2-9DDF-C904-8C9A-E8C3A78D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107B2-55AC-AA4C-2100-01568674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26D52-1769-BD0B-4D82-8D6BFAC5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830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D3B2-D885-AFDE-7EDD-FE21EFB9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340CBC-59E4-79F6-9366-AE07C6033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7C676-2980-4ECC-41DA-0984F2F07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DF644-DB1C-D89A-873B-8603FA2C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79FDD-8791-9CC3-56D9-00648029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CE0F9-A812-337D-879F-6BEB20AC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244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3079-EBD8-B8D3-B4A1-BDD34D4B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81921-F61F-DBA5-D03D-E0DFCE094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A55D1-84F4-D894-F246-34CCD6F3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7566-8573-F4A2-9329-56ED10C6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204-EB8C-E07B-6D22-EC68CB0F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647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9FC67-D867-31EF-165C-8BF37B6B6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E7EDA-CCC0-1BBF-7268-57D734FD8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C14D-D7E3-69A1-1D7C-FB3DD790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68A7E-A715-2E6B-370D-F082F934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2F7F-49F0-8ACA-9A7B-3C86CB8F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810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E62F8-4E48-592B-234F-21428D6E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58D6A-0E9E-823E-4AF2-C57FEF9D4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42C1D-B02F-AA9E-74BD-8279014F4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4DA33-B544-4336-B07B-96067A6A097F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636C2-0FA4-C17D-795D-F5F531147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E27-43DF-944A-4AF4-D06B15E62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A3C3C-8FFF-4EAD-BCF3-3DC3CD9EF9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960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C4FED0-9526-AAAF-121A-F33CDCA21C05}"/>
              </a:ext>
            </a:extLst>
          </p:cNvPr>
          <p:cNvSpPr txBox="1"/>
          <p:nvPr/>
        </p:nvSpPr>
        <p:spPr>
          <a:xfrm>
            <a:off x="2550611" y="1176536"/>
            <a:ext cx="68993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D700"/>
                </a:solidFill>
              </a:rPr>
              <a:t>ARMY BURN HALL COLLEGE</a:t>
            </a:r>
            <a:endParaRPr lang="en-PK" sz="4000" b="1" dirty="0">
              <a:solidFill>
                <a:srgbClr val="FFD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E330E-6D16-F7B4-35B2-FD15A6E57662}"/>
              </a:ext>
            </a:extLst>
          </p:cNvPr>
          <p:cNvSpPr txBox="1"/>
          <p:nvPr/>
        </p:nvSpPr>
        <p:spPr>
          <a:xfrm>
            <a:off x="1984394" y="2407642"/>
            <a:ext cx="844603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B0BEC5"/>
                </a:solidFill>
              </a:rPr>
              <a:t>ASSESSMENT CONFERENCE</a:t>
            </a:r>
            <a:endParaRPr lang="en-PK" sz="5000" b="1" dirty="0">
              <a:solidFill>
                <a:srgbClr val="B0BEC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956C6-6F86-89E2-52A8-DA84184556FE}"/>
              </a:ext>
            </a:extLst>
          </p:cNvPr>
          <p:cNvSpPr txBox="1"/>
          <p:nvPr/>
        </p:nvSpPr>
        <p:spPr>
          <a:xfrm>
            <a:off x="2019656" y="3159946"/>
            <a:ext cx="8033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overall batch performance &amp; academic diagnostics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E77B1-8B0E-38A1-3CA5-55D382CF2519}"/>
              </a:ext>
            </a:extLst>
          </p:cNvPr>
          <p:cNvSpPr txBox="1"/>
          <p:nvPr/>
        </p:nvSpPr>
        <p:spPr>
          <a:xfrm>
            <a:off x="252189" y="5839336"/>
            <a:ext cx="181556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B0BEC5"/>
                </a:solidFill>
              </a:rPr>
              <a:t>Bhadur Ali</a:t>
            </a:r>
            <a:br>
              <a:rPr lang="en-US" sz="1500" b="1" dirty="0">
                <a:solidFill>
                  <a:srgbClr val="B0BEC5"/>
                </a:solidFill>
              </a:rPr>
            </a:br>
            <a:r>
              <a:rPr lang="en-US" sz="1500" b="1" dirty="0">
                <a:solidFill>
                  <a:srgbClr val="B0BEC5"/>
                </a:solidFill>
              </a:rPr>
              <a:t>Computer Science</a:t>
            </a:r>
          </a:p>
          <a:p>
            <a:r>
              <a:rPr lang="en-US" sz="1500" b="1" dirty="0">
                <a:solidFill>
                  <a:srgbClr val="B0BEC5"/>
                </a:solidFill>
                <a:latin typeface="+mj-lt"/>
              </a:rPr>
              <a:t>02/06/2026</a:t>
            </a:r>
            <a:endParaRPr lang="en-PK" sz="1500" b="1" dirty="0">
              <a:solidFill>
                <a:srgbClr val="B0BEC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575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38515-1DF3-98F4-AF91-F424476B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4A205F-8AF2-8424-4FEC-DFBDE6966FE2}"/>
              </a:ext>
            </a:extLst>
          </p:cNvPr>
          <p:cNvSpPr txBox="1"/>
          <p:nvPr/>
        </p:nvSpPr>
        <p:spPr>
          <a:xfrm>
            <a:off x="302618" y="589987"/>
            <a:ext cx="50658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TABLE OF CONTENTS</a:t>
            </a:r>
            <a:endParaRPr lang="en-PK" sz="4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8A93D-D431-3290-5DCF-5674F9BCD490}"/>
              </a:ext>
            </a:extLst>
          </p:cNvPr>
          <p:cNvSpPr txBox="1"/>
          <p:nvPr/>
        </p:nvSpPr>
        <p:spPr>
          <a:xfrm>
            <a:off x="302618" y="1622936"/>
            <a:ext cx="9237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D700"/>
                </a:solidFill>
                <a:latin typeface="20"/>
              </a:rPr>
              <a:t>01 | Executive Summary</a:t>
            </a:r>
            <a:r>
              <a:rPr lang="en-US" sz="2000" dirty="0">
                <a:solidFill>
                  <a:srgbClr val="FFD700"/>
                </a:solidFill>
                <a:latin typeface="20"/>
              </a:rPr>
              <a:t> </a:t>
            </a:r>
          </a:p>
          <a:p>
            <a:r>
              <a:rPr lang="en-US" sz="2000" i="1" dirty="0">
                <a:solidFill>
                  <a:schemeClr val="bg1"/>
                </a:solidFill>
                <a:latin typeface="20"/>
              </a:rPr>
              <a:t>(Highlighting the overall 9th-grade pass rate and term health)</a:t>
            </a:r>
          </a:p>
          <a:p>
            <a:endParaRPr lang="en-US" sz="2000" dirty="0">
              <a:solidFill>
                <a:schemeClr val="bg1"/>
              </a:solidFill>
              <a:latin typeface="20"/>
            </a:endParaRPr>
          </a:p>
          <a:p>
            <a:r>
              <a:rPr lang="en-US" sz="2000" b="1" dirty="0">
                <a:solidFill>
                  <a:srgbClr val="FFD700"/>
                </a:solidFill>
                <a:latin typeface="20"/>
              </a:rPr>
              <a:t>02 | Section-by-Section Comparison</a:t>
            </a:r>
            <a:r>
              <a:rPr lang="en-US" sz="2000" dirty="0">
                <a:solidFill>
                  <a:srgbClr val="FFD700"/>
                </a:solidFill>
                <a:latin typeface="20"/>
              </a:rPr>
              <a:t> </a:t>
            </a:r>
          </a:p>
          <a:p>
            <a:r>
              <a:rPr lang="en-US" sz="2000" i="1" dirty="0">
                <a:solidFill>
                  <a:schemeClr val="bg1"/>
                </a:solidFill>
                <a:latin typeface="20"/>
              </a:rPr>
              <a:t>(Identifying the top-performing and struggling classes)</a:t>
            </a:r>
          </a:p>
          <a:p>
            <a:endParaRPr lang="en-US" sz="2000" dirty="0">
              <a:solidFill>
                <a:schemeClr val="bg1"/>
              </a:solidFill>
              <a:latin typeface="20"/>
            </a:endParaRPr>
          </a:p>
          <a:p>
            <a:r>
              <a:rPr lang="en-US" sz="2000" b="1" dirty="0">
                <a:solidFill>
                  <a:srgbClr val="FFD700"/>
                </a:solidFill>
                <a:latin typeface="20"/>
              </a:rPr>
              <a:t>03 | Subject-wise Deep Dive</a:t>
            </a:r>
            <a:r>
              <a:rPr lang="en-US" sz="2000" dirty="0">
                <a:solidFill>
                  <a:schemeClr val="bg1"/>
                </a:solidFill>
                <a:latin typeface="20"/>
              </a:rPr>
              <a:t> </a:t>
            </a:r>
          </a:p>
          <a:p>
            <a:r>
              <a:rPr lang="en-US" sz="2000" i="1" dirty="0">
                <a:solidFill>
                  <a:schemeClr val="bg1"/>
                </a:solidFill>
                <a:latin typeface="20"/>
              </a:rPr>
              <a:t>(Analyzing department strengths and minimum score gaps)</a:t>
            </a:r>
          </a:p>
          <a:p>
            <a:endParaRPr lang="en-US" sz="2000" dirty="0">
              <a:solidFill>
                <a:schemeClr val="bg1"/>
              </a:solidFill>
              <a:latin typeface="20"/>
            </a:endParaRPr>
          </a:p>
          <a:p>
            <a:r>
              <a:rPr lang="en-US" sz="2000" b="1" dirty="0">
                <a:solidFill>
                  <a:srgbClr val="FFD700"/>
                </a:solidFill>
                <a:latin typeface="20"/>
              </a:rPr>
              <a:t>04 | House Performance Breakdown</a:t>
            </a:r>
            <a:r>
              <a:rPr lang="en-US" sz="2000" dirty="0">
                <a:solidFill>
                  <a:srgbClr val="FFD700"/>
                </a:solidFill>
                <a:latin typeface="20"/>
              </a:rPr>
              <a:t> </a:t>
            </a:r>
          </a:p>
          <a:p>
            <a:r>
              <a:rPr lang="en-US" sz="2000" i="1" dirty="0">
                <a:solidFill>
                  <a:schemeClr val="bg1"/>
                </a:solidFill>
                <a:latin typeface="20"/>
              </a:rPr>
              <a:t>(Direct comparison of SIS, SAS, STS, and SSS)</a:t>
            </a:r>
          </a:p>
          <a:p>
            <a:endParaRPr lang="en-US" sz="2000" dirty="0">
              <a:solidFill>
                <a:schemeClr val="bg1"/>
              </a:solidFill>
              <a:latin typeface="20"/>
            </a:endParaRPr>
          </a:p>
          <a:p>
            <a:r>
              <a:rPr lang="en-US" sz="2000" b="1" dirty="0">
                <a:solidFill>
                  <a:srgbClr val="FFD700"/>
                </a:solidFill>
                <a:latin typeface="20"/>
              </a:rPr>
              <a:t>05 | Live Interactive Q&amp;A</a:t>
            </a:r>
            <a:r>
              <a:rPr lang="en-US" sz="2000" dirty="0">
                <a:solidFill>
                  <a:srgbClr val="FFD700"/>
                </a:solidFill>
                <a:latin typeface="20"/>
              </a:rPr>
              <a:t> </a:t>
            </a:r>
          </a:p>
          <a:p>
            <a:r>
              <a:rPr lang="en-US" sz="2000" i="1" dirty="0">
                <a:solidFill>
                  <a:schemeClr val="bg1"/>
                </a:solidFill>
                <a:latin typeface="20"/>
              </a:rPr>
              <a:t>(Real-time student lookup and specific academic reviews</a:t>
            </a:r>
            <a:endParaRPr lang="en-US" sz="2000" dirty="0">
              <a:solidFill>
                <a:schemeClr val="bg1"/>
              </a:solidFill>
              <a:latin typeface="20"/>
            </a:endParaRPr>
          </a:p>
        </p:txBody>
      </p:sp>
    </p:spTree>
    <p:extLst>
      <p:ext uri="{BB962C8B-B14F-4D97-AF65-F5344CB8AC3E}">
        <p14:creationId xmlns:p14="http://schemas.microsoft.com/office/powerpoint/2010/main" val="2404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5F204-7C9B-B26D-CEDB-C2D5C31F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B5400-B2D6-5A77-383F-7E798E9FB93A}"/>
              </a:ext>
            </a:extLst>
          </p:cNvPr>
          <p:cNvSpPr txBox="1"/>
          <p:nvPr/>
        </p:nvSpPr>
        <p:spPr>
          <a:xfrm>
            <a:off x="2376287" y="254354"/>
            <a:ext cx="7249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EXECUTIVE SUMMARY: 1ST TERM 2026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E9B98B-913E-B16C-D866-B1CB66930D42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B897136-C390-0B98-96DF-25EB1DA7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04" t="13810" r="1147" b="68282"/>
          <a:stretch>
            <a:fillRect/>
          </a:stretch>
        </p:blipFill>
        <p:spPr>
          <a:xfrm>
            <a:off x="652367" y="1201420"/>
            <a:ext cx="10887265" cy="13080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6250B5-FD87-6FDE-203D-DEFE28C5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21" y="2962591"/>
            <a:ext cx="4304620" cy="31586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95BED9-D580-C305-0D39-4DAB404C0038}"/>
              </a:ext>
            </a:extLst>
          </p:cNvPr>
          <p:cNvSpPr txBox="1"/>
          <p:nvPr/>
        </p:nvSpPr>
        <p:spPr>
          <a:xfrm>
            <a:off x="5000459" y="2962591"/>
            <a:ext cx="7056056" cy="277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D700"/>
                </a:solidFill>
              </a:rPr>
              <a:t>KEY BATCH INSIGHTS:</a:t>
            </a:r>
            <a:endParaRPr lang="en-US" dirty="0">
              <a:solidFill>
                <a:srgbClr val="FFD7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Overall term standing is stable with a </a:t>
            </a:r>
            <a:r>
              <a:rPr lang="en-US" sz="2000" b="1" dirty="0">
                <a:solidFill>
                  <a:schemeClr val="bg1"/>
                </a:solidFill>
              </a:rPr>
              <a:t>69.76%</a:t>
            </a:r>
            <a:r>
              <a:rPr lang="en-US" sz="2000" dirty="0">
                <a:solidFill>
                  <a:schemeClr val="bg1"/>
                </a:solidFill>
              </a:rPr>
              <a:t> passing rate.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Strong top-tier performance: </a:t>
            </a:r>
            <a:r>
              <a:rPr lang="en-US" sz="2000" b="1" dirty="0">
                <a:solidFill>
                  <a:schemeClr val="bg1"/>
                </a:solidFill>
              </a:rPr>
              <a:t>51.21%</a:t>
            </a:r>
            <a:r>
              <a:rPr lang="en-US" sz="2000" dirty="0">
                <a:solidFill>
                  <a:schemeClr val="bg1"/>
                </a:solidFill>
              </a:rPr>
              <a:t> of the batch secured A1 or A grades.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75 students</a:t>
            </a:r>
            <a:r>
              <a:rPr lang="en-US" sz="2000" dirty="0">
                <a:solidFill>
                  <a:schemeClr val="bg1"/>
                </a:solidFill>
              </a:rPr>
              <a:t> currently require immediate academic intervention and support.</a:t>
            </a:r>
          </a:p>
        </p:txBody>
      </p:sp>
    </p:spTree>
    <p:extLst>
      <p:ext uri="{BB962C8B-B14F-4D97-AF65-F5344CB8AC3E}">
        <p14:creationId xmlns:p14="http://schemas.microsoft.com/office/powerpoint/2010/main" val="228081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3AAEF-FE61-447B-3A8B-D327B164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8FEFEA-608C-2035-A0ED-DAB9177B4DFA}"/>
              </a:ext>
            </a:extLst>
          </p:cNvPr>
          <p:cNvSpPr txBox="1"/>
          <p:nvPr/>
        </p:nvSpPr>
        <p:spPr>
          <a:xfrm>
            <a:off x="2494108" y="231204"/>
            <a:ext cx="7014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SECTION-BY-SECTION COMPARISON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0D13E8-9E22-8F85-1CA2-7E2CDF43893E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D184D3-D48E-12E4-75ED-B6C29C3DD4DF}"/>
              </a:ext>
            </a:extLst>
          </p:cNvPr>
          <p:cNvSpPr txBox="1"/>
          <p:nvPr/>
        </p:nvSpPr>
        <p:spPr>
          <a:xfrm>
            <a:off x="1440050" y="4394668"/>
            <a:ext cx="93017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HIGHEST ACHIEVEMENT: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 D leads with a </a:t>
            </a:r>
            <a:r>
              <a:rPr lang="en-US" b="1" dirty="0">
                <a:solidFill>
                  <a:schemeClr val="bg1"/>
                </a:solidFill>
              </a:rPr>
              <a:t>73.09%</a:t>
            </a:r>
            <a:r>
              <a:rPr lang="en-US" dirty="0">
                <a:solidFill>
                  <a:schemeClr val="bg1"/>
                </a:solidFill>
              </a:rPr>
              <a:t> pass rate.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D700"/>
                </a:solidFill>
              </a:rPr>
              <a:t>TARGET FOR IMPROVEMENT: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Sections E and F show a higher concentration of academic gaps requiring focus.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8B2CAC-8EB9-7071-63EF-9B234E8D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30" y="1528676"/>
            <a:ext cx="5725074" cy="2430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B57B2D-076C-C3D6-A154-8FC102B58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974" y="1528676"/>
            <a:ext cx="5720169" cy="2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9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B71E6-6A07-8A2C-2CB6-71F0EFFC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80BFE1-A212-E283-759C-C53230DBA352}"/>
              </a:ext>
            </a:extLst>
          </p:cNvPr>
          <p:cNvSpPr txBox="1"/>
          <p:nvPr/>
        </p:nvSpPr>
        <p:spPr>
          <a:xfrm>
            <a:off x="1308239" y="231204"/>
            <a:ext cx="9385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ACADEMIC GROWTH &amp; TARGETED INTERVENTION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B16242-E32C-F5F5-08E0-616C33D85644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C70EC2-4AE9-7F00-DBB2-90C418B15438}"/>
              </a:ext>
            </a:extLst>
          </p:cNvPr>
          <p:cNvSpPr txBox="1"/>
          <p:nvPr/>
        </p:nvSpPr>
        <p:spPr>
          <a:xfrm>
            <a:off x="1440050" y="4394668"/>
            <a:ext cx="93017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TREND ANALYSIS: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Tracking current 9th-grade performance against historical 8th-grade baselines. The result clearly indicate that result have been dropped.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D700"/>
                </a:solidFill>
              </a:rPr>
              <a:t>INTERVENTION PRIORITY: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Isolating the density of failing subjects per section to deploy targeted remedial support. So, it is quite clear that </a:t>
            </a:r>
            <a:r>
              <a:rPr lang="en-US" b="1" dirty="0">
                <a:solidFill>
                  <a:schemeClr val="bg1"/>
                </a:solidFill>
              </a:rPr>
              <a:t>Section E, F, G </a:t>
            </a:r>
            <a:r>
              <a:rPr lang="en-US" dirty="0">
                <a:solidFill>
                  <a:schemeClr val="bg1"/>
                </a:solidFill>
              </a:rPr>
              <a:t>require constant supervision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F6211-1330-C9EF-1895-1EE88E1C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5" y="1512839"/>
            <a:ext cx="5720169" cy="2383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4F29EC-FD58-A0BE-1260-A868050C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90" y="1509123"/>
            <a:ext cx="5798053" cy="238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2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55F53-092F-2F54-2DFD-0AB6CCD6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CD9B09-AECF-1F74-8572-CC7B19AB946E}"/>
              </a:ext>
            </a:extLst>
          </p:cNvPr>
          <p:cNvSpPr txBox="1"/>
          <p:nvPr/>
        </p:nvSpPr>
        <p:spPr>
          <a:xfrm>
            <a:off x="1909975" y="231204"/>
            <a:ext cx="8182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TOP PERFORMERS &amp; GRADE DISTRIBUTION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D59615-8168-A407-7C18-1E27D1C70F75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2F3015-6383-9927-9A61-C18A2A75A88C}"/>
              </a:ext>
            </a:extLst>
          </p:cNvPr>
          <p:cNvSpPr txBox="1"/>
          <p:nvPr/>
        </p:nvSpPr>
        <p:spPr>
          <a:xfrm>
            <a:off x="1170143" y="4093726"/>
            <a:ext cx="96621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D700"/>
                </a:solidFill>
              </a:rPr>
              <a:t>TERM 1 LEADER:</a:t>
            </a:r>
            <a:r>
              <a:rPr lang="en-US" sz="2000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Muhammad Ibraheem Abid </a:t>
            </a:r>
            <a:r>
              <a:rPr lang="en-US" dirty="0">
                <a:solidFill>
                  <a:schemeClr val="bg1"/>
                </a:solidFill>
              </a:rPr>
              <a:t>secured the first position with </a:t>
            </a:r>
            <a:r>
              <a:rPr lang="en-US" b="1" dirty="0">
                <a:solidFill>
                  <a:schemeClr val="bg1"/>
                </a:solidFill>
              </a:rPr>
              <a:t>93.15%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D700"/>
                </a:solidFill>
              </a:rPr>
              <a:t>Quality Benchmarks: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Distinct concentrations of A1 and A grades established across all sections, setting the target baseline for Term 2.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F9D236-9E0A-265C-2BA9-3048A862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6" y="1338211"/>
            <a:ext cx="5741521" cy="19446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3B142C-9091-A83F-2EE5-B932957AD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012" y="1384795"/>
            <a:ext cx="5741521" cy="193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2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69471-E096-0491-1049-7C3642C9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169610-C126-C5E1-7400-B1DBE56C8A8B}"/>
              </a:ext>
            </a:extLst>
          </p:cNvPr>
          <p:cNvSpPr txBox="1"/>
          <p:nvPr/>
        </p:nvSpPr>
        <p:spPr>
          <a:xfrm>
            <a:off x="3049622" y="231204"/>
            <a:ext cx="5903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DEMOGRAPHIC DISTRIBUTION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CE585D-256B-08A6-0324-36F67E026B5B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857977-744F-A7F0-9CE8-B11308A8F159}"/>
              </a:ext>
            </a:extLst>
          </p:cNvPr>
          <p:cNvSpPr txBox="1"/>
          <p:nvPr/>
        </p:nvSpPr>
        <p:spPr>
          <a:xfrm>
            <a:off x="6245420" y="1514688"/>
            <a:ext cx="5414842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D700"/>
                </a:solidFill>
              </a:rPr>
              <a:t>BATCH COMPOSITION: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MAJORITY COHORT: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Day Scholars (DS) comprise </a:t>
            </a:r>
            <a:r>
              <a:rPr lang="en-US" b="1" dirty="0">
                <a:solidFill>
                  <a:schemeClr val="bg1"/>
                </a:solidFill>
              </a:rPr>
              <a:t>69.35%</a:t>
            </a:r>
            <a:r>
              <a:rPr lang="en-US" dirty="0">
                <a:solidFill>
                  <a:schemeClr val="bg1"/>
                </a:solidFill>
              </a:rPr>
              <a:t> of the 9th-grade batch (172 students).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RESIDENTIAL COHORT: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Boarders (B) make up nearly </a:t>
            </a:r>
            <a:r>
              <a:rPr lang="en-US" b="1" dirty="0">
                <a:solidFill>
                  <a:schemeClr val="bg1"/>
                </a:solidFill>
              </a:rPr>
              <a:t>30%</a:t>
            </a:r>
            <a:r>
              <a:rPr lang="en-US" dirty="0">
                <a:solidFill>
                  <a:schemeClr val="bg1"/>
                </a:solidFill>
              </a:rPr>
              <a:t> of the batch (74 students), providing a strictly controlled group for evening academic prep.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88B04-31AF-F9F9-A0D8-5764E0604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8" y="1769780"/>
            <a:ext cx="5626273" cy="40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6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3235D-2106-DD8E-4C06-85DBE0C2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C67A35-6826-0E2A-672C-0D6CAC7CFD1E}"/>
              </a:ext>
            </a:extLst>
          </p:cNvPr>
          <p:cNvSpPr txBox="1"/>
          <p:nvPr/>
        </p:nvSpPr>
        <p:spPr>
          <a:xfrm>
            <a:off x="2682563" y="231204"/>
            <a:ext cx="6637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CLASS PERFORMANCE MEASURES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F12E84-1999-69EC-DB80-BDDCF7A94CF7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F55D6A-7A67-A2BF-6C6A-D35A88BA0698}"/>
              </a:ext>
            </a:extLst>
          </p:cNvPr>
          <p:cNvSpPr txBox="1"/>
          <p:nvPr/>
        </p:nvSpPr>
        <p:spPr>
          <a:xfrm>
            <a:off x="228468" y="3941326"/>
            <a:ext cx="5681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TOP-TIER DENSITY: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Sections </a:t>
            </a:r>
            <a:r>
              <a:rPr lang="en-US" b="1" dirty="0">
                <a:solidFill>
                  <a:schemeClr val="bg1"/>
                </a:solidFill>
              </a:rPr>
              <a:t>A, B, and C</a:t>
            </a:r>
            <a:r>
              <a:rPr lang="en-US" dirty="0">
                <a:solidFill>
                  <a:schemeClr val="bg1"/>
                </a:solidFill>
              </a:rPr>
              <a:t> hold the strongest concentration of exceptional </a:t>
            </a:r>
            <a:r>
              <a:rPr lang="en-US" b="1" dirty="0">
                <a:solidFill>
                  <a:schemeClr val="bg1"/>
                </a:solidFill>
              </a:rPr>
              <a:t>A1</a:t>
            </a:r>
            <a:r>
              <a:rPr lang="en-US" dirty="0">
                <a:solidFill>
                  <a:schemeClr val="bg1"/>
                </a:solidFill>
              </a:rPr>
              <a:t> grades (Dark Red).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D700"/>
                </a:solidFill>
              </a:rPr>
              <a:t>PRIMARY INTERVENTION: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Sections </a:t>
            </a:r>
            <a:r>
              <a:rPr lang="en-US" b="1" dirty="0">
                <a:solidFill>
                  <a:schemeClr val="bg1"/>
                </a:solidFill>
              </a:rPr>
              <a:t>E and F</a:t>
            </a:r>
            <a:r>
              <a:rPr lang="en-US" dirty="0">
                <a:solidFill>
                  <a:schemeClr val="bg1"/>
                </a:solidFill>
              </a:rPr>
              <a:t> show the highest volume of failing grades (Green), isolating our immediate targets for academic support.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A2C70-0781-8372-D594-3F58A4AF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7" y="1366586"/>
            <a:ext cx="5681500" cy="2370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49B4F-5AA8-A118-9046-8FAD1A523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35" y="1366586"/>
            <a:ext cx="5681500" cy="23367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A67673-5719-030F-0067-90FF0D429060}"/>
              </a:ext>
            </a:extLst>
          </p:cNvPr>
          <p:cNvSpPr txBox="1"/>
          <p:nvPr/>
        </p:nvSpPr>
        <p:spPr>
          <a:xfrm>
            <a:off x="6090920" y="3941326"/>
            <a:ext cx="5681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LEADING SECTION: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 </a:t>
            </a:r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en-US" dirty="0">
                <a:solidFill>
                  <a:schemeClr val="bg1"/>
                </a:solidFill>
              </a:rPr>
              <a:t> holds the highest academic standing with a </a:t>
            </a:r>
            <a:r>
              <a:rPr lang="en-US" b="1" dirty="0">
                <a:solidFill>
                  <a:schemeClr val="bg1"/>
                </a:solidFill>
              </a:rPr>
              <a:t>76.67%</a:t>
            </a:r>
            <a:r>
              <a:rPr lang="en-US" dirty="0">
                <a:solidFill>
                  <a:schemeClr val="bg1"/>
                </a:solidFill>
              </a:rPr>
              <a:t> pass rate and a leading average of </a:t>
            </a:r>
            <a:r>
              <a:rPr lang="en-US" b="1" dirty="0">
                <a:solidFill>
                  <a:schemeClr val="bg1"/>
                </a:solidFill>
              </a:rPr>
              <a:t>72.61%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D700"/>
                </a:solidFill>
              </a:rPr>
              <a:t>TARGETED SUPPORT:</a:t>
            </a:r>
            <a:r>
              <a:rPr lang="en-US" dirty="0">
                <a:solidFill>
                  <a:srgbClr val="FFD7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Sections </a:t>
            </a:r>
            <a:r>
              <a:rPr lang="en-US" b="1" dirty="0">
                <a:solidFill>
                  <a:schemeClr val="bg1"/>
                </a:solidFill>
              </a:rPr>
              <a:t>E and F</a:t>
            </a:r>
            <a:r>
              <a:rPr lang="en-US" dirty="0">
                <a:solidFill>
                  <a:schemeClr val="bg1"/>
                </a:solidFill>
              </a:rPr>
              <a:t> present the lowest pass percentages, isolating a combined </a:t>
            </a:r>
            <a:r>
              <a:rPr lang="en-US" b="1" dirty="0">
                <a:solidFill>
                  <a:schemeClr val="bg1"/>
                </a:solidFill>
              </a:rPr>
              <a:t>24</a:t>
            </a:r>
            <a:r>
              <a:rPr lang="en-US" dirty="0">
                <a:solidFill>
                  <a:schemeClr val="bg1"/>
                </a:solidFill>
              </a:rPr>
              <a:t> students requiring immediate instructional intervention.</a:t>
            </a:r>
          </a:p>
        </p:txBody>
      </p:sp>
    </p:spTree>
    <p:extLst>
      <p:ext uri="{BB962C8B-B14F-4D97-AF65-F5344CB8AC3E}">
        <p14:creationId xmlns:p14="http://schemas.microsoft.com/office/powerpoint/2010/main" val="323473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94CB5-10D6-0148-51CB-C41868F5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E5B1F-A3E1-0034-3EB4-F358980E82FA}"/>
              </a:ext>
            </a:extLst>
          </p:cNvPr>
          <p:cNvSpPr txBox="1"/>
          <p:nvPr/>
        </p:nvSpPr>
        <p:spPr>
          <a:xfrm>
            <a:off x="1953197" y="231204"/>
            <a:ext cx="809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SUBJECT-LEVEL DIAGNOSTICS &amp; FAILURES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6A384-813D-E72C-DDF5-D2F6AC7685F1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2C23A7A-3330-64DD-BFAD-84F4057E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73" y="1111180"/>
            <a:ext cx="11684973" cy="1261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4C5C09-C3B0-8586-F59E-70703C418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74" y="2579357"/>
            <a:ext cx="5824326" cy="23336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1936FB-FBB6-ADF2-09F9-92E5AEBA5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94" y="2579357"/>
            <a:ext cx="4928932" cy="2424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E22B88-C7DA-B168-B956-10D050934AEE}"/>
              </a:ext>
            </a:extLst>
          </p:cNvPr>
          <p:cNvSpPr txBox="1"/>
          <p:nvPr/>
        </p:nvSpPr>
        <p:spPr>
          <a:xfrm>
            <a:off x="271672" y="5202967"/>
            <a:ext cx="5824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DEPARTMENTAL OVERVIEW:</a:t>
            </a:r>
            <a:endParaRPr lang="en-US" dirty="0">
              <a:solidFill>
                <a:srgbClr val="FFD700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TOP PERFORMANCE: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Tarjuma</a:t>
            </a:r>
            <a:r>
              <a:rPr lang="en-US" dirty="0">
                <a:solidFill>
                  <a:schemeClr val="bg1"/>
                </a:solidFill>
              </a:rPr>
              <a:t>-e-Quran leads all subjects with a </a:t>
            </a:r>
            <a:r>
              <a:rPr lang="en-US" b="1" dirty="0">
                <a:solidFill>
                  <a:schemeClr val="bg1"/>
                </a:solidFill>
              </a:rPr>
              <a:t>79.43%</a:t>
            </a:r>
            <a:r>
              <a:rPr lang="en-US" dirty="0">
                <a:solidFill>
                  <a:schemeClr val="bg1"/>
                </a:solidFill>
              </a:rPr>
              <a:t> average.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7CDBD8-39BA-8F57-966E-F427C25DEE1E}"/>
              </a:ext>
            </a:extLst>
          </p:cNvPr>
          <p:cNvSpPr txBox="1"/>
          <p:nvPr/>
        </p:nvSpPr>
        <p:spPr>
          <a:xfrm>
            <a:off x="6925494" y="5209665"/>
            <a:ext cx="50607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D700"/>
                </a:solidFill>
              </a:rPr>
              <a:t>DEPARTMENTAL OVERVIEW:</a:t>
            </a:r>
            <a:endParaRPr lang="en-US" dirty="0">
              <a:solidFill>
                <a:srgbClr val="FFD700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CRITICAL BOTTLENECK: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Mathematics accounts for the highest volume of academic gaps, with </a:t>
            </a:r>
            <a:r>
              <a:rPr lang="en-US" b="1" dirty="0">
                <a:solidFill>
                  <a:schemeClr val="bg1"/>
                </a:solidFill>
              </a:rPr>
              <a:t>53</a:t>
            </a:r>
            <a:r>
              <a:rPr lang="en-US" dirty="0">
                <a:solidFill>
                  <a:schemeClr val="bg1"/>
                </a:solidFill>
              </a:rPr>
              <a:t> failed papers and the overall average for English subject is very less</a:t>
            </a:r>
          </a:p>
        </p:txBody>
      </p:sp>
    </p:spTree>
    <p:extLst>
      <p:ext uri="{BB962C8B-B14F-4D97-AF65-F5344CB8AC3E}">
        <p14:creationId xmlns:p14="http://schemas.microsoft.com/office/powerpoint/2010/main" val="224006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25F41-0589-A3D4-A4FB-16E97730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BD642-ED1A-12BF-DD8C-BD2B11598E92}"/>
              </a:ext>
            </a:extLst>
          </p:cNvPr>
          <p:cNvSpPr txBox="1"/>
          <p:nvPr/>
        </p:nvSpPr>
        <p:spPr>
          <a:xfrm>
            <a:off x="3025158" y="231204"/>
            <a:ext cx="5952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DEPARTMENTAL GRADE DEPTH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1A9D10-0693-6CD2-DD78-9FEC4541E3A6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1A8D03-AD3D-38AF-513D-BC2D78A7D39D}"/>
              </a:ext>
            </a:extLst>
          </p:cNvPr>
          <p:cNvSpPr txBox="1"/>
          <p:nvPr/>
        </p:nvSpPr>
        <p:spPr>
          <a:xfrm>
            <a:off x="7442520" y="1443841"/>
            <a:ext cx="45604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D700"/>
                </a:solidFill>
              </a:rPr>
              <a:t>KEY DEPARTMENTAL TRENDS:</a:t>
            </a:r>
            <a:endParaRPr lang="en-US" dirty="0">
              <a:solidFill>
                <a:srgbClr val="FFD700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ACADEMIC EXCELLENCE: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Tarjuma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Physics</a:t>
            </a:r>
            <a:r>
              <a:rPr lang="en-US" dirty="0">
                <a:solidFill>
                  <a:schemeClr val="bg1"/>
                </a:solidFill>
              </a:rPr>
              <a:t> hold the highest volume of A1 grades (Dark Green).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AVERAGE CONCENTRATION: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English</a:t>
            </a:r>
            <a:r>
              <a:rPr lang="en-US" dirty="0">
                <a:solidFill>
                  <a:schemeClr val="bg1"/>
                </a:solidFill>
              </a:rPr>
              <a:t> shows a massive concentration of B and C grades (Yellow/Orange), indicating a "middle-heavy" curve.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CRITICAL REVIEW: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Math</a:t>
            </a:r>
            <a:r>
              <a:rPr lang="en-US" dirty="0">
                <a:solidFill>
                  <a:schemeClr val="bg1"/>
                </a:solidFill>
              </a:rPr>
              <a:t> holds the largest block of failing grades (Red block of 53), requiring immediate departmental strategy adjustments.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1E306-4392-913F-0255-D5D505AD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56" y="1707880"/>
            <a:ext cx="6790008" cy="36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1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E68AC-8594-F33C-9179-50A6D463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710A00-A1C2-45A5-5B1E-0106D8608D4E}"/>
              </a:ext>
            </a:extLst>
          </p:cNvPr>
          <p:cNvSpPr txBox="1"/>
          <p:nvPr/>
        </p:nvSpPr>
        <p:spPr>
          <a:xfrm>
            <a:off x="1060679" y="231204"/>
            <a:ext cx="9881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HOUSE PERFORMANCE &amp; COMPETITIVE STANDINGS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75AFEC-FE2C-55B9-C88D-5BF8DF1E028B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E318EB7-33AD-4B4C-46A7-1DB0E522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4" y="1227283"/>
            <a:ext cx="5552219" cy="2201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27C778-F9E4-2ACC-86EC-A86C10787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94" y="4020418"/>
            <a:ext cx="5507609" cy="2201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4E6113-FB5F-69ED-71F5-263948CE795B}"/>
              </a:ext>
            </a:extLst>
          </p:cNvPr>
          <p:cNvSpPr txBox="1"/>
          <p:nvPr/>
        </p:nvSpPr>
        <p:spPr>
          <a:xfrm>
            <a:off x="6470246" y="1227283"/>
            <a:ext cx="4560425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D700"/>
                </a:solidFill>
              </a:rPr>
              <a:t>TERM 1 HOUSE STANDINGS: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FFD7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TOP PERCENTAGE: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House </a:t>
            </a:r>
            <a:r>
              <a:rPr lang="en-US" b="1" dirty="0">
                <a:solidFill>
                  <a:schemeClr val="bg1"/>
                </a:solidFill>
              </a:rPr>
              <a:t>S.A.S</a:t>
            </a:r>
            <a:r>
              <a:rPr lang="en-US" dirty="0">
                <a:solidFill>
                  <a:schemeClr val="bg1"/>
                </a:solidFill>
              </a:rPr>
              <a:t> leads the 1st Term with an </a:t>
            </a:r>
            <a:r>
              <a:rPr lang="en-US" b="1" dirty="0">
                <a:solidFill>
                  <a:schemeClr val="bg1"/>
                </a:solidFill>
              </a:rPr>
              <a:t>82.50%</a:t>
            </a:r>
            <a:r>
              <a:rPr lang="en-US" dirty="0">
                <a:solidFill>
                  <a:schemeClr val="bg1"/>
                </a:solidFill>
              </a:rPr>
              <a:t> pass rate and the highest average standing (</a:t>
            </a:r>
            <a:r>
              <a:rPr lang="en-US" b="1" dirty="0">
                <a:solidFill>
                  <a:schemeClr val="bg1"/>
                </a:solidFill>
              </a:rPr>
              <a:t>72.92%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COHORT VOLUME: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House </a:t>
            </a:r>
            <a:r>
              <a:rPr lang="en-US" b="1" dirty="0">
                <a:solidFill>
                  <a:schemeClr val="bg1"/>
                </a:solidFill>
              </a:rPr>
              <a:t>S.T.S</a:t>
            </a:r>
            <a:r>
              <a:rPr lang="en-US" dirty="0">
                <a:solidFill>
                  <a:schemeClr val="bg1"/>
                </a:solidFill>
              </a:rPr>
              <a:t> successfully managed the largest student volume (172 boys), holding a stable </a:t>
            </a:r>
            <a:r>
              <a:rPr lang="en-US" b="1" dirty="0">
                <a:solidFill>
                  <a:schemeClr val="bg1"/>
                </a:solidFill>
              </a:rPr>
              <a:t>67.44%</a:t>
            </a:r>
            <a:r>
              <a:rPr lang="en-US" dirty="0">
                <a:solidFill>
                  <a:schemeClr val="bg1"/>
                </a:solidFill>
              </a:rPr>
              <a:t> pass rate.</a:t>
            </a:r>
          </a:p>
        </p:txBody>
      </p:sp>
    </p:spTree>
    <p:extLst>
      <p:ext uri="{BB962C8B-B14F-4D97-AF65-F5344CB8AC3E}">
        <p14:creationId xmlns:p14="http://schemas.microsoft.com/office/powerpoint/2010/main" val="60213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158D2-E04F-D2F9-C23B-ACE28F16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2D596A-833D-602D-C454-BAB6C15263E5}"/>
              </a:ext>
            </a:extLst>
          </p:cNvPr>
          <p:cNvSpPr txBox="1"/>
          <p:nvPr/>
        </p:nvSpPr>
        <p:spPr>
          <a:xfrm>
            <a:off x="1890843" y="231204"/>
            <a:ext cx="8220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HOUSE GRADE DEPTH &amp; FAILURE SEVERITY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5D3D95-FBE9-ED8E-99C6-F51094E8659C}"/>
              </a:ext>
            </a:extLst>
          </p:cNvPr>
          <p:cNvCxnSpPr/>
          <p:nvPr/>
        </p:nvCxnSpPr>
        <p:spPr>
          <a:xfrm>
            <a:off x="1259840" y="90497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7DA00D-9BFD-187E-835A-AE847CF76B7A}"/>
              </a:ext>
            </a:extLst>
          </p:cNvPr>
          <p:cNvSpPr txBox="1"/>
          <p:nvPr/>
        </p:nvSpPr>
        <p:spPr>
          <a:xfrm>
            <a:off x="6582006" y="1450803"/>
            <a:ext cx="4560425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D700"/>
                </a:solidFill>
              </a:rPr>
              <a:t>DIAGNOSTIC INSIGHTS: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QUALITY DENSITY: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House </a:t>
            </a:r>
            <a:r>
              <a:rPr lang="en-US" b="1" dirty="0">
                <a:solidFill>
                  <a:schemeClr val="bg1"/>
                </a:solidFill>
              </a:rPr>
              <a:t>S.A.S</a:t>
            </a:r>
            <a:r>
              <a:rPr lang="en-US" dirty="0">
                <a:solidFill>
                  <a:schemeClr val="bg1"/>
                </a:solidFill>
              </a:rPr>
              <a:t> demonstrates a highly concentrated block of top-tier academic performance (A and A1 grades).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FAILURE SEVERITY: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Within </a:t>
            </a:r>
            <a:r>
              <a:rPr lang="en-US" b="1" dirty="0">
                <a:solidFill>
                  <a:schemeClr val="bg1"/>
                </a:solidFill>
              </a:rPr>
              <a:t>S.T.S</a:t>
            </a:r>
            <a:r>
              <a:rPr lang="en-US" dirty="0">
                <a:solidFill>
                  <a:schemeClr val="bg1"/>
                </a:solidFill>
              </a:rPr>
              <a:t>, 24 students are only failing a single subject, isolating a highly recoverable group for Term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4300D-46CD-AE87-4FF2-A10B3373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4" y="1158629"/>
            <a:ext cx="5954420" cy="2469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B47444-5604-6BB0-E5D6-0CB50F62E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87" y="3983110"/>
            <a:ext cx="5939013" cy="246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4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553C8-723B-F32A-809B-42278F91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4734F-E094-5EE5-5F0B-934FA043F3BD}"/>
              </a:ext>
            </a:extLst>
          </p:cNvPr>
          <p:cNvSpPr txBox="1"/>
          <p:nvPr/>
        </p:nvSpPr>
        <p:spPr>
          <a:xfrm>
            <a:off x="3600669" y="2039684"/>
            <a:ext cx="48011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LIVE DASHBOARD &amp; Q&amp;A</a:t>
            </a:r>
            <a:endParaRPr lang="en-PK" sz="32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811ED2-E7ED-DE29-6A24-DF8844D689A0}"/>
              </a:ext>
            </a:extLst>
          </p:cNvPr>
          <p:cNvCxnSpPr/>
          <p:nvPr/>
        </p:nvCxnSpPr>
        <p:spPr>
          <a:xfrm>
            <a:off x="1259840" y="2947139"/>
            <a:ext cx="966216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5EDF20-929D-83E9-ABFF-0B43E23D799F}"/>
              </a:ext>
            </a:extLst>
          </p:cNvPr>
          <p:cNvSpPr txBox="1"/>
          <p:nvPr/>
        </p:nvSpPr>
        <p:spPr>
          <a:xfrm>
            <a:off x="2455391" y="3150448"/>
            <a:ext cx="709168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D700"/>
                </a:solidFill>
              </a:rPr>
              <a:t>ACCESSING THE LIVE MARKS SYSTEM...</a:t>
            </a:r>
          </a:p>
        </p:txBody>
      </p:sp>
    </p:spTree>
    <p:extLst>
      <p:ext uri="{BB962C8B-B14F-4D97-AF65-F5344CB8AC3E}">
        <p14:creationId xmlns:p14="http://schemas.microsoft.com/office/powerpoint/2010/main" val="162869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685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20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Bhadur Ali</dc:creator>
  <cp:lastModifiedBy>Bhadur Ali</cp:lastModifiedBy>
  <cp:revision>2</cp:revision>
  <dcterms:created xsi:type="dcterms:W3CDTF">2026-06-02T14:23:42Z</dcterms:created>
  <dcterms:modified xsi:type="dcterms:W3CDTF">2026-06-02T17:01:19Z</dcterms:modified>
</cp:coreProperties>
</file>